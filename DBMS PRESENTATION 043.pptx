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43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yasin bhuiyan" userId="1cd840e8195759c1" providerId="LiveId" clId="{0AB866D3-B62B-4E96-B477-EE8C665EAD54}"/>
    <pc:docChg chg="modSld">
      <pc:chgData name="md yasin bhuiyan" userId="1cd840e8195759c1" providerId="LiveId" clId="{0AB866D3-B62B-4E96-B477-EE8C665EAD54}" dt="2026-01-19T14:40:41.795" v="0" actId="1076"/>
      <pc:docMkLst>
        <pc:docMk/>
      </pc:docMkLst>
      <pc:sldChg chg="modSp mod">
        <pc:chgData name="md yasin bhuiyan" userId="1cd840e8195759c1" providerId="LiveId" clId="{0AB866D3-B62B-4E96-B477-EE8C665EAD54}" dt="2026-01-19T14:40:41.795" v="0" actId="1076"/>
        <pc:sldMkLst>
          <pc:docMk/>
          <pc:sldMk cId="2887879449" sldId="260"/>
        </pc:sldMkLst>
        <pc:spChg chg="mod">
          <ac:chgData name="md yasin bhuiyan" userId="1cd840e8195759c1" providerId="LiveId" clId="{0AB866D3-B62B-4E96-B477-EE8C665EAD54}" dt="2026-01-19T14:40:41.795" v="0" actId="1076"/>
          <ac:spMkLst>
            <pc:docMk/>
            <pc:sldMk cId="2887879449" sldId="260"/>
            <ac:spMk id="2" creationId="{C73C8B84-97E1-0BE1-B223-2C53480590D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60A87A-CF02-42B5-A049-0D2002EB11E3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E86DE90-D16F-4B72-89E5-F118DDA08436}">
      <dgm:prSet/>
      <dgm:spPr/>
      <dgm:t>
        <a:bodyPr/>
        <a:lstStyle/>
        <a:p>
          <a:r>
            <a:rPr lang="en-US" b="1"/>
            <a:t>In this presentation, I will discuss:</a:t>
          </a:r>
          <a:endParaRPr lang="en-US"/>
        </a:p>
      </dgm:t>
    </dgm:pt>
    <dgm:pt modelId="{6824D2C1-D555-4D2B-B40A-32272A3AFCF2}" type="parTrans" cxnId="{22A8697C-BB7A-48B1-AA54-DD889A31F115}">
      <dgm:prSet/>
      <dgm:spPr/>
      <dgm:t>
        <a:bodyPr/>
        <a:lstStyle/>
        <a:p>
          <a:endParaRPr lang="en-US"/>
        </a:p>
      </dgm:t>
    </dgm:pt>
    <dgm:pt modelId="{08179EFB-C015-433A-80C8-9CBBAE45C52E}" type="sibTrans" cxnId="{22A8697C-BB7A-48B1-AA54-DD889A31F115}">
      <dgm:prSet/>
      <dgm:spPr/>
      <dgm:t>
        <a:bodyPr/>
        <a:lstStyle/>
        <a:p>
          <a:endParaRPr lang="en-US"/>
        </a:p>
      </dgm:t>
    </dgm:pt>
    <dgm:pt modelId="{87898C03-8836-44B9-BFD3-343E33BD78D7}">
      <dgm:prSet/>
      <dgm:spPr/>
      <dgm:t>
        <a:bodyPr/>
        <a:lstStyle/>
        <a:p>
          <a:r>
            <a:rPr lang="en-US" b="1"/>
            <a:t>Database Normalization</a:t>
          </a:r>
          <a:endParaRPr lang="en-US"/>
        </a:p>
      </dgm:t>
    </dgm:pt>
    <dgm:pt modelId="{9E200605-88E3-4034-835E-6BBC6700D8B6}" type="parTrans" cxnId="{1E69D471-5C38-40A5-A605-53115E2FE1FE}">
      <dgm:prSet/>
      <dgm:spPr/>
      <dgm:t>
        <a:bodyPr/>
        <a:lstStyle/>
        <a:p>
          <a:endParaRPr lang="en-US"/>
        </a:p>
      </dgm:t>
    </dgm:pt>
    <dgm:pt modelId="{7004314B-0A9D-4B67-B5EE-5688E42F67EE}" type="sibTrans" cxnId="{1E69D471-5C38-40A5-A605-53115E2FE1FE}">
      <dgm:prSet/>
      <dgm:spPr/>
      <dgm:t>
        <a:bodyPr/>
        <a:lstStyle/>
        <a:p>
          <a:endParaRPr lang="en-US"/>
        </a:p>
      </dgm:t>
    </dgm:pt>
    <dgm:pt modelId="{A259E368-1DDF-4039-87D7-5429C27ADDCB}">
      <dgm:prSet/>
      <dgm:spPr/>
      <dgm:t>
        <a:bodyPr/>
        <a:lstStyle/>
        <a:p>
          <a:r>
            <a:rPr lang="en-US" b="1" dirty="0"/>
            <a:t>Transaction Management &amp; ACID Properties</a:t>
          </a:r>
          <a:endParaRPr lang="en-US" dirty="0"/>
        </a:p>
      </dgm:t>
    </dgm:pt>
    <dgm:pt modelId="{2B5F25AE-251C-4443-A9C2-84FE623782FD}" type="parTrans" cxnId="{25FE52FB-0902-4FB7-8404-136BE4FB5D3D}">
      <dgm:prSet/>
      <dgm:spPr/>
      <dgm:t>
        <a:bodyPr/>
        <a:lstStyle/>
        <a:p>
          <a:endParaRPr lang="en-US"/>
        </a:p>
      </dgm:t>
    </dgm:pt>
    <dgm:pt modelId="{2E30C70D-354C-4784-8B09-B87AA176E260}" type="sibTrans" cxnId="{25FE52FB-0902-4FB7-8404-136BE4FB5D3D}">
      <dgm:prSet/>
      <dgm:spPr/>
      <dgm:t>
        <a:bodyPr/>
        <a:lstStyle/>
        <a:p>
          <a:endParaRPr lang="en-US"/>
        </a:p>
      </dgm:t>
    </dgm:pt>
    <dgm:pt modelId="{F871BC66-45F9-4C1A-9F6C-2527E632A852}">
      <dgm:prSet/>
      <dgm:spPr/>
      <dgm:t>
        <a:bodyPr/>
        <a:lstStyle/>
        <a:p>
          <a:r>
            <a:rPr lang="en-US" b="1"/>
            <a:t>Indexing Techniques</a:t>
          </a:r>
          <a:endParaRPr lang="en-US"/>
        </a:p>
      </dgm:t>
    </dgm:pt>
    <dgm:pt modelId="{DD15D3DF-43DA-434A-98C9-B4AA44C9B022}" type="parTrans" cxnId="{A8E97D27-C20D-4F84-B12C-4B387A76756E}">
      <dgm:prSet/>
      <dgm:spPr/>
      <dgm:t>
        <a:bodyPr/>
        <a:lstStyle/>
        <a:p>
          <a:endParaRPr lang="en-US"/>
        </a:p>
      </dgm:t>
    </dgm:pt>
    <dgm:pt modelId="{92A39240-D81B-475F-8CBB-E8E750BFB840}" type="sibTrans" cxnId="{A8E97D27-C20D-4F84-B12C-4B387A76756E}">
      <dgm:prSet/>
      <dgm:spPr/>
      <dgm:t>
        <a:bodyPr/>
        <a:lstStyle/>
        <a:p>
          <a:endParaRPr lang="en-US"/>
        </a:p>
      </dgm:t>
    </dgm:pt>
    <dgm:pt modelId="{DD8FF8D0-4A1A-45B4-A6A7-FA3B6B08CD0B}">
      <dgm:prSet/>
      <dgm:spPr/>
      <dgm:t>
        <a:bodyPr/>
        <a:lstStyle/>
        <a:p>
          <a:r>
            <a:rPr lang="en-US" b="1"/>
            <a:t>Concurrency Control &amp; Deadlock Handling</a:t>
          </a:r>
          <a:endParaRPr lang="en-US"/>
        </a:p>
      </dgm:t>
    </dgm:pt>
    <dgm:pt modelId="{94724404-CD57-4BBD-B7B7-76104E4E6EEA}" type="parTrans" cxnId="{E7483AEF-095D-402C-BAC4-B6215B331237}">
      <dgm:prSet/>
      <dgm:spPr/>
      <dgm:t>
        <a:bodyPr/>
        <a:lstStyle/>
        <a:p>
          <a:endParaRPr lang="en-US"/>
        </a:p>
      </dgm:t>
    </dgm:pt>
    <dgm:pt modelId="{2E10AD2F-C714-406A-94D9-CB60214D0AA8}" type="sibTrans" cxnId="{E7483AEF-095D-402C-BAC4-B6215B331237}">
      <dgm:prSet/>
      <dgm:spPr/>
      <dgm:t>
        <a:bodyPr/>
        <a:lstStyle/>
        <a:p>
          <a:endParaRPr lang="en-US"/>
        </a:p>
      </dgm:t>
    </dgm:pt>
    <dgm:pt modelId="{C78E244F-B9A3-490F-A4D7-B29F0071C914}">
      <dgm:prSet/>
      <dgm:spPr/>
      <dgm:t>
        <a:bodyPr/>
        <a:lstStyle/>
        <a:p>
          <a:r>
            <a:rPr lang="en-US" b="1"/>
            <a:t>SQL vs NoSQL Comparison</a:t>
          </a:r>
          <a:endParaRPr lang="en-US"/>
        </a:p>
      </dgm:t>
    </dgm:pt>
    <dgm:pt modelId="{B769F7BA-81C5-47D0-9091-92AA1CCCFE63}" type="parTrans" cxnId="{BAA71940-ABE0-4380-B9BE-65D2156C2A58}">
      <dgm:prSet/>
      <dgm:spPr/>
      <dgm:t>
        <a:bodyPr/>
        <a:lstStyle/>
        <a:p>
          <a:endParaRPr lang="en-US"/>
        </a:p>
      </dgm:t>
    </dgm:pt>
    <dgm:pt modelId="{2754D17D-4DDD-4E85-97A1-6A87CCFDFE6D}" type="sibTrans" cxnId="{BAA71940-ABE0-4380-B9BE-65D2156C2A58}">
      <dgm:prSet/>
      <dgm:spPr/>
      <dgm:t>
        <a:bodyPr/>
        <a:lstStyle/>
        <a:p>
          <a:endParaRPr lang="en-US"/>
        </a:p>
      </dgm:t>
    </dgm:pt>
    <dgm:pt modelId="{8F387B1E-D6C2-4469-90F5-97FA30E22E31}" type="pres">
      <dgm:prSet presAssocID="{B960A87A-CF02-42B5-A049-0D2002EB11E3}" presName="linear" presStyleCnt="0">
        <dgm:presLayoutVars>
          <dgm:animLvl val="lvl"/>
          <dgm:resizeHandles val="exact"/>
        </dgm:presLayoutVars>
      </dgm:prSet>
      <dgm:spPr/>
    </dgm:pt>
    <dgm:pt modelId="{BA0CC950-5ED4-4D41-85E2-1D89D50C1F6A}" type="pres">
      <dgm:prSet presAssocID="{6E86DE90-D16F-4B72-89E5-F118DDA0843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77FD3D7-83F6-435E-8D08-138ACE07DE74}" type="pres">
      <dgm:prSet presAssocID="{08179EFB-C015-433A-80C8-9CBBAE45C52E}" presName="spacer" presStyleCnt="0"/>
      <dgm:spPr/>
    </dgm:pt>
    <dgm:pt modelId="{3691DA97-7302-435B-83E5-19E95C5BB42B}" type="pres">
      <dgm:prSet presAssocID="{87898C03-8836-44B9-BFD3-343E33BD78D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A31ACC8-023E-4B1E-B80C-6ED09791D37A}" type="pres">
      <dgm:prSet presAssocID="{7004314B-0A9D-4B67-B5EE-5688E42F67EE}" presName="spacer" presStyleCnt="0"/>
      <dgm:spPr/>
    </dgm:pt>
    <dgm:pt modelId="{D1A27BBA-3B61-4A83-84D4-1237EBE9D265}" type="pres">
      <dgm:prSet presAssocID="{A259E368-1DDF-4039-87D7-5429C27ADDC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57D090E-C8AC-4FE0-B4C7-9B302353C6FB}" type="pres">
      <dgm:prSet presAssocID="{2E30C70D-354C-4784-8B09-B87AA176E260}" presName="spacer" presStyleCnt="0"/>
      <dgm:spPr/>
    </dgm:pt>
    <dgm:pt modelId="{7D0801AE-23B6-4100-A49D-FF39F42638EF}" type="pres">
      <dgm:prSet presAssocID="{F871BC66-45F9-4C1A-9F6C-2527E632A85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792FB07-7C3F-4F61-B6C9-9645790BEE9A}" type="pres">
      <dgm:prSet presAssocID="{92A39240-D81B-475F-8CBB-E8E750BFB840}" presName="spacer" presStyleCnt="0"/>
      <dgm:spPr/>
    </dgm:pt>
    <dgm:pt modelId="{3848E4BC-C17E-447D-973E-6DCC6B4C3B30}" type="pres">
      <dgm:prSet presAssocID="{DD8FF8D0-4A1A-45B4-A6A7-FA3B6B08CD0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18ABDD5-DA84-4BC5-9F03-243A66E01C8D}" type="pres">
      <dgm:prSet presAssocID="{2E10AD2F-C714-406A-94D9-CB60214D0AA8}" presName="spacer" presStyleCnt="0"/>
      <dgm:spPr/>
    </dgm:pt>
    <dgm:pt modelId="{CBB116DE-8710-46C4-9B43-4BAF587852D0}" type="pres">
      <dgm:prSet presAssocID="{C78E244F-B9A3-490F-A4D7-B29F0071C91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4656C16-6093-4357-9CE8-3686C2BD735F}" type="presOf" srcId="{B960A87A-CF02-42B5-A049-0D2002EB11E3}" destId="{8F387B1E-D6C2-4469-90F5-97FA30E22E31}" srcOrd="0" destOrd="0" presId="urn:microsoft.com/office/officeart/2005/8/layout/vList2"/>
    <dgm:cxn modelId="{C406C123-0188-444C-BC9E-45C6894475D0}" type="presOf" srcId="{87898C03-8836-44B9-BFD3-343E33BD78D7}" destId="{3691DA97-7302-435B-83E5-19E95C5BB42B}" srcOrd="0" destOrd="0" presId="urn:microsoft.com/office/officeart/2005/8/layout/vList2"/>
    <dgm:cxn modelId="{A8E97D27-C20D-4F84-B12C-4B387A76756E}" srcId="{B960A87A-CF02-42B5-A049-0D2002EB11E3}" destId="{F871BC66-45F9-4C1A-9F6C-2527E632A852}" srcOrd="3" destOrd="0" parTransId="{DD15D3DF-43DA-434A-98C9-B4AA44C9B022}" sibTransId="{92A39240-D81B-475F-8CBB-E8E750BFB840}"/>
    <dgm:cxn modelId="{BAA71940-ABE0-4380-B9BE-65D2156C2A58}" srcId="{B960A87A-CF02-42B5-A049-0D2002EB11E3}" destId="{C78E244F-B9A3-490F-A4D7-B29F0071C914}" srcOrd="5" destOrd="0" parTransId="{B769F7BA-81C5-47D0-9091-92AA1CCCFE63}" sibTransId="{2754D17D-4DDD-4E85-97A1-6A87CCFDFE6D}"/>
    <dgm:cxn modelId="{8CE44C63-7BE7-4371-9618-6BA1AA3C9F26}" type="presOf" srcId="{A259E368-1DDF-4039-87D7-5429C27ADDCB}" destId="{D1A27BBA-3B61-4A83-84D4-1237EBE9D265}" srcOrd="0" destOrd="0" presId="urn:microsoft.com/office/officeart/2005/8/layout/vList2"/>
    <dgm:cxn modelId="{1E69D471-5C38-40A5-A605-53115E2FE1FE}" srcId="{B960A87A-CF02-42B5-A049-0D2002EB11E3}" destId="{87898C03-8836-44B9-BFD3-343E33BD78D7}" srcOrd="1" destOrd="0" parTransId="{9E200605-88E3-4034-835E-6BBC6700D8B6}" sibTransId="{7004314B-0A9D-4B67-B5EE-5688E42F67EE}"/>
    <dgm:cxn modelId="{BEA94959-3493-45F8-9676-F4718F673EEF}" type="presOf" srcId="{6E86DE90-D16F-4B72-89E5-F118DDA08436}" destId="{BA0CC950-5ED4-4D41-85E2-1D89D50C1F6A}" srcOrd="0" destOrd="0" presId="urn:microsoft.com/office/officeart/2005/8/layout/vList2"/>
    <dgm:cxn modelId="{22A8697C-BB7A-48B1-AA54-DD889A31F115}" srcId="{B960A87A-CF02-42B5-A049-0D2002EB11E3}" destId="{6E86DE90-D16F-4B72-89E5-F118DDA08436}" srcOrd="0" destOrd="0" parTransId="{6824D2C1-D555-4D2B-B40A-32272A3AFCF2}" sibTransId="{08179EFB-C015-433A-80C8-9CBBAE45C52E}"/>
    <dgm:cxn modelId="{5B986C94-883C-4518-8AC5-A4FAA9D84DB3}" type="presOf" srcId="{C78E244F-B9A3-490F-A4D7-B29F0071C914}" destId="{CBB116DE-8710-46C4-9B43-4BAF587852D0}" srcOrd="0" destOrd="0" presId="urn:microsoft.com/office/officeart/2005/8/layout/vList2"/>
    <dgm:cxn modelId="{4B74F6BE-12D3-47C7-95D1-0647132F337B}" type="presOf" srcId="{F871BC66-45F9-4C1A-9F6C-2527E632A852}" destId="{7D0801AE-23B6-4100-A49D-FF39F42638EF}" srcOrd="0" destOrd="0" presId="urn:microsoft.com/office/officeart/2005/8/layout/vList2"/>
    <dgm:cxn modelId="{E7483AEF-095D-402C-BAC4-B6215B331237}" srcId="{B960A87A-CF02-42B5-A049-0D2002EB11E3}" destId="{DD8FF8D0-4A1A-45B4-A6A7-FA3B6B08CD0B}" srcOrd="4" destOrd="0" parTransId="{94724404-CD57-4BBD-B7B7-76104E4E6EEA}" sibTransId="{2E10AD2F-C714-406A-94D9-CB60214D0AA8}"/>
    <dgm:cxn modelId="{A5E48CF0-E7C0-42CD-A9DA-4BC1EC9F4011}" type="presOf" srcId="{DD8FF8D0-4A1A-45B4-A6A7-FA3B6B08CD0B}" destId="{3848E4BC-C17E-447D-973E-6DCC6B4C3B30}" srcOrd="0" destOrd="0" presId="urn:microsoft.com/office/officeart/2005/8/layout/vList2"/>
    <dgm:cxn modelId="{25FE52FB-0902-4FB7-8404-136BE4FB5D3D}" srcId="{B960A87A-CF02-42B5-A049-0D2002EB11E3}" destId="{A259E368-1DDF-4039-87D7-5429C27ADDCB}" srcOrd="2" destOrd="0" parTransId="{2B5F25AE-251C-4443-A9C2-84FE623782FD}" sibTransId="{2E30C70D-354C-4784-8B09-B87AA176E260}"/>
    <dgm:cxn modelId="{71E505AE-3FE9-4784-85D8-847AA3618EF3}" type="presParOf" srcId="{8F387B1E-D6C2-4469-90F5-97FA30E22E31}" destId="{BA0CC950-5ED4-4D41-85E2-1D89D50C1F6A}" srcOrd="0" destOrd="0" presId="urn:microsoft.com/office/officeart/2005/8/layout/vList2"/>
    <dgm:cxn modelId="{4426285D-975E-4F80-9304-4D6175930021}" type="presParOf" srcId="{8F387B1E-D6C2-4469-90F5-97FA30E22E31}" destId="{977FD3D7-83F6-435E-8D08-138ACE07DE74}" srcOrd="1" destOrd="0" presId="urn:microsoft.com/office/officeart/2005/8/layout/vList2"/>
    <dgm:cxn modelId="{6C2BBCB9-F4C1-4183-B60B-1BBA67555791}" type="presParOf" srcId="{8F387B1E-D6C2-4469-90F5-97FA30E22E31}" destId="{3691DA97-7302-435B-83E5-19E95C5BB42B}" srcOrd="2" destOrd="0" presId="urn:microsoft.com/office/officeart/2005/8/layout/vList2"/>
    <dgm:cxn modelId="{9D56AC7B-87CB-49CD-A379-4013A60CB66A}" type="presParOf" srcId="{8F387B1E-D6C2-4469-90F5-97FA30E22E31}" destId="{BA31ACC8-023E-4B1E-B80C-6ED09791D37A}" srcOrd="3" destOrd="0" presId="urn:microsoft.com/office/officeart/2005/8/layout/vList2"/>
    <dgm:cxn modelId="{77F39B19-C86E-4D92-B27B-33C4C5828CB5}" type="presParOf" srcId="{8F387B1E-D6C2-4469-90F5-97FA30E22E31}" destId="{D1A27BBA-3B61-4A83-84D4-1237EBE9D265}" srcOrd="4" destOrd="0" presId="urn:microsoft.com/office/officeart/2005/8/layout/vList2"/>
    <dgm:cxn modelId="{0707BD5E-E1E5-44E5-8011-DEBD0B731FF9}" type="presParOf" srcId="{8F387B1E-D6C2-4469-90F5-97FA30E22E31}" destId="{C57D090E-C8AC-4FE0-B4C7-9B302353C6FB}" srcOrd="5" destOrd="0" presId="urn:microsoft.com/office/officeart/2005/8/layout/vList2"/>
    <dgm:cxn modelId="{F4BBF3B3-C24F-4E49-AD38-A535420D637A}" type="presParOf" srcId="{8F387B1E-D6C2-4469-90F5-97FA30E22E31}" destId="{7D0801AE-23B6-4100-A49D-FF39F42638EF}" srcOrd="6" destOrd="0" presId="urn:microsoft.com/office/officeart/2005/8/layout/vList2"/>
    <dgm:cxn modelId="{E9E8BADA-0ED6-4470-AE9B-385F59183FC9}" type="presParOf" srcId="{8F387B1E-D6C2-4469-90F5-97FA30E22E31}" destId="{4792FB07-7C3F-4F61-B6C9-9645790BEE9A}" srcOrd="7" destOrd="0" presId="urn:microsoft.com/office/officeart/2005/8/layout/vList2"/>
    <dgm:cxn modelId="{3E352384-4267-4CC2-845C-7A2901D22731}" type="presParOf" srcId="{8F387B1E-D6C2-4469-90F5-97FA30E22E31}" destId="{3848E4BC-C17E-447D-973E-6DCC6B4C3B30}" srcOrd="8" destOrd="0" presId="urn:microsoft.com/office/officeart/2005/8/layout/vList2"/>
    <dgm:cxn modelId="{C1802C97-A6DA-451D-A341-E2E5E5F4F60B}" type="presParOf" srcId="{8F387B1E-D6C2-4469-90F5-97FA30E22E31}" destId="{618ABDD5-DA84-4BC5-9F03-243A66E01C8D}" srcOrd="9" destOrd="0" presId="urn:microsoft.com/office/officeart/2005/8/layout/vList2"/>
    <dgm:cxn modelId="{5197D41F-BF8D-475F-958B-65390C4314B1}" type="presParOf" srcId="{8F387B1E-D6C2-4469-90F5-97FA30E22E31}" destId="{CBB116DE-8710-46C4-9B43-4BAF587852D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CC950-5ED4-4D41-85E2-1D89D50C1F6A}">
      <dsp:nvSpPr>
        <dsp:cNvPr id="0" name=""/>
        <dsp:cNvSpPr/>
      </dsp:nvSpPr>
      <dsp:spPr>
        <a:xfrm>
          <a:off x="0" y="29996"/>
          <a:ext cx="9757363" cy="5276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In this presentation, I will discuss:</a:t>
          </a:r>
          <a:endParaRPr lang="en-US" sz="2200" kern="1200"/>
        </a:p>
      </dsp:txBody>
      <dsp:txXfrm>
        <a:off x="25759" y="55755"/>
        <a:ext cx="9705845" cy="476152"/>
      </dsp:txXfrm>
    </dsp:sp>
    <dsp:sp modelId="{3691DA97-7302-435B-83E5-19E95C5BB42B}">
      <dsp:nvSpPr>
        <dsp:cNvPr id="0" name=""/>
        <dsp:cNvSpPr/>
      </dsp:nvSpPr>
      <dsp:spPr>
        <a:xfrm>
          <a:off x="0" y="621026"/>
          <a:ext cx="9757363" cy="5276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Database Normalization</a:t>
          </a:r>
          <a:endParaRPr lang="en-US" sz="2200" kern="1200"/>
        </a:p>
      </dsp:txBody>
      <dsp:txXfrm>
        <a:off x="25759" y="646785"/>
        <a:ext cx="9705845" cy="476152"/>
      </dsp:txXfrm>
    </dsp:sp>
    <dsp:sp modelId="{D1A27BBA-3B61-4A83-84D4-1237EBE9D265}">
      <dsp:nvSpPr>
        <dsp:cNvPr id="0" name=""/>
        <dsp:cNvSpPr/>
      </dsp:nvSpPr>
      <dsp:spPr>
        <a:xfrm>
          <a:off x="0" y="1212056"/>
          <a:ext cx="9757363" cy="5276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Transaction Management &amp; ACID Properties</a:t>
          </a:r>
          <a:endParaRPr lang="en-US" sz="2200" kern="1200" dirty="0"/>
        </a:p>
      </dsp:txBody>
      <dsp:txXfrm>
        <a:off x="25759" y="1237815"/>
        <a:ext cx="9705845" cy="476152"/>
      </dsp:txXfrm>
    </dsp:sp>
    <dsp:sp modelId="{7D0801AE-23B6-4100-A49D-FF39F42638EF}">
      <dsp:nvSpPr>
        <dsp:cNvPr id="0" name=""/>
        <dsp:cNvSpPr/>
      </dsp:nvSpPr>
      <dsp:spPr>
        <a:xfrm>
          <a:off x="0" y="1803086"/>
          <a:ext cx="9757363" cy="5276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Indexing Techniques</a:t>
          </a:r>
          <a:endParaRPr lang="en-US" sz="2200" kern="1200"/>
        </a:p>
      </dsp:txBody>
      <dsp:txXfrm>
        <a:off x="25759" y="1828845"/>
        <a:ext cx="9705845" cy="476152"/>
      </dsp:txXfrm>
    </dsp:sp>
    <dsp:sp modelId="{3848E4BC-C17E-447D-973E-6DCC6B4C3B30}">
      <dsp:nvSpPr>
        <dsp:cNvPr id="0" name=""/>
        <dsp:cNvSpPr/>
      </dsp:nvSpPr>
      <dsp:spPr>
        <a:xfrm>
          <a:off x="0" y="2394116"/>
          <a:ext cx="9757363" cy="5276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Concurrency Control &amp; Deadlock Handling</a:t>
          </a:r>
          <a:endParaRPr lang="en-US" sz="2200" kern="1200"/>
        </a:p>
      </dsp:txBody>
      <dsp:txXfrm>
        <a:off x="25759" y="2419875"/>
        <a:ext cx="9705845" cy="476152"/>
      </dsp:txXfrm>
    </dsp:sp>
    <dsp:sp modelId="{CBB116DE-8710-46C4-9B43-4BAF587852D0}">
      <dsp:nvSpPr>
        <dsp:cNvPr id="0" name=""/>
        <dsp:cNvSpPr/>
      </dsp:nvSpPr>
      <dsp:spPr>
        <a:xfrm>
          <a:off x="0" y="2985146"/>
          <a:ext cx="9757363" cy="5276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SQL vs NoSQL Comparison</a:t>
          </a:r>
          <a:endParaRPr lang="en-US" sz="2200" kern="1200"/>
        </a:p>
      </dsp:txBody>
      <dsp:txXfrm>
        <a:off x="25759" y="3010905"/>
        <a:ext cx="9705845" cy="476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B109C5B-3B98-48EB-A942-8D11CEA37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A9C389E4-003E-40C9-AC9E-ED821C16F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042684-2705-40BD-9104-A6B24CE1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6752F0-9372-DE17-19F5-031EA7A34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6800" y="1143000"/>
            <a:ext cx="6666271" cy="2214498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EBEBEB"/>
                </a:solidFill>
              </a:rPr>
              <a:t>Welcome to my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210A1-D1BE-E970-37CA-18320CAFF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4825" y="3769360"/>
            <a:ext cx="6268246" cy="197246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2400" b="1" dirty="0"/>
              <a:t>Name: md: Yeasin bhuiyan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2400" b="1" dirty="0"/>
              <a:t>Roll : 43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2400" b="1" dirty="0"/>
              <a:t>Batch : d-91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2400" b="1" dirty="0"/>
              <a:t>Department :</a:t>
            </a:r>
            <a:r>
              <a:rPr lang="en-US" sz="2400" b="1" dirty="0" err="1"/>
              <a:t>cse</a:t>
            </a:r>
            <a:endParaRPr lang="en-US" sz="2400" b="1" dirty="0"/>
          </a:p>
          <a:p>
            <a:pPr>
              <a:lnSpc>
                <a:spcPct val="90000"/>
              </a:lnSpc>
            </a:pPr>
            <a:endParaRPr lang="en-US" sz="1400" dirty="0"/>
          </a:p>
        </p:txBody>
      </p:sp>
      <p:pic>
        <p:nvPicPr>
          <p:cNvPr id="25" name="Graphic 24" descr="Teacher">
            <a:extLst>
              <a:ext uri="{FF2B5EF4-FFF2-40B4-BE49-F238E27FC236}">
                <a16:creationId xmlns:a16="http://schemas.microsoft.com/office/drawing/2014/main" id="{EA6B508D-AC18-609B-F6EE-9E1568395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764" y="1661911"/>
            <a:ext cx="3531062" cy="353106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1519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B823-E46C-E1CC-1746-4FDFA53D3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EBEBEB"/>
                </a:solidFill>
              </a:rPr>
              <a:t>Presentation 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DA09F8-C87D-7A71-2233-F6529F8337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674426"/>
              </p:ext>
            </p:extLst>
          </p:nvPr>
        </p:nvGraphicFramePr>
        <p:xfrm>
          <a:off x="1154954" y="2468880"/>
          <a:ext cx="9757363" cy="3542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8876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4F66-CE29-B47D-275C-64D7E85CC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Database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5F0A7-094D-3773-7F0E-5FB88F145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Normalization is a database design technique</a:t>
            </a:r>
          </a:p>
          <a:p>
            <a:r>
              <a:rPr lang="en-US" sz="2400" b="1" dirty="0"/>
              <a:t>It organizes data into tables properly</a:t>
            </a:r>
          </a:p>
          <a:p>
            <a:r>
              <a:rPr lang="en-US" sz="2400" b="1" dirty="0"/>
              <a:t>Reduces duplicate data (redundancy)</a:t>
            </a:r>
          </a:p>
          <a:p>
            <a:r>
              <a:rPr lang="en-US" sz="2400" b="1" dirty="0"/>
              <a:t>Improves data consistency and integrity</a:t>
            </a:r>
          </a:p>
          <a:p>
            <a:r>
              <a:rPr lang="en-US" sz="2400" b="1" dirty="0"/>
              <a:t>Makes database easy to maintain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827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FD865-D86D-B64B-AF0D-4338CD2F5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First Normal Form (1NF)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71DAF-BF80-1726-7CCB-07A8DD6C7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A table is in 1NF if all attributes contain atomic (single) values.</a:t>
            </a:r>
          </a:p>
          <a:p>
            <a:r>
              <a:rPr lang="en-US" dirty="0"/>
              <a:t>No multi-valued attributes</a:t>
            </a:r>
          </a:p>
          <a:p>
            <a:r>
              <a:rPr lang="en-US" dirty="0"/>
              <a:t>No repeating groups</a:t>
            </a:r>
          </a:p>
          <a:p>
            <a:r>
              <a:rPr lang="en-US" dirty="0"/>
              <a:t>Each row must have a unique key</a:t>
            </a:r>
          </a:p>
          <a:p>
            <a:pPr marL="0" indent="0">
              <a:buNone/>
            </a:pPr>
            <a:r>
              <a:rPr lang="en-US" b="1" dirty="0"/>
              <a:t>Example (Violation):</a:t>
            </a:r>
            <a:r>
              <a:rPr lang="en-US" dirty="0"/>
              <a:t>Phone numbers stored in one column.</a:t>
            </a:r>
          </a:p>
          <a:p>
            <a:pPr marL="0" indent="0">
              <a:buNone/>
            </a:pPr>
            <a:r>
              <a:rPr lang="en-US" sz="2000" b="1" dirty="0"/>
              <a:t>Solution: </a:t>
            </a:r>
            <a:r>
              <a:rPr lang="en-US" dirty="0"/>
              <a:t>Store one phone number per row.</a:t>
            </a:r>
          </a:p>
        </p:txBody>
      </p:sp>
    </p:spTree>
    <p:extLst>
      <p:ext uri="{BB962C8B-B14F-4D97-AF65-F5344CB8AC3E}">
        <p14:creationId xmlns:p14="http://schemas.microsoft.com/office/powerpoint/2010/main" val="2465941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C8B84-97E1-0BE1-B223-2C5348059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293" y="797023"/>
            <a:ext cx="8761413" cy="706964"/>
          </a:xfrm>
        </p:spPr>
        <p:txBody>
          <a:bodyPr/>
          <a:lstStyle/>
          <a:p>
            <a:r>
              <a:rPr lang="en-US" sz="4000" b="1" dirty="0"/>
              <a:t>Second Normal Form (2NF)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43ADECA-99A5-2D58-3C1F-58C19A4993E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63792" y="2798015"/>
            <a:ext cx="10036885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table is in 2NF if it is in 1NF and all non-key attributes depend on the full primary key.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 be in 1NF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partial dependency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Non-key attributes depend on entire primary key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Mostly applies to composite key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879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576A5-D5B2-CADB-FF83-8FEE9B289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30" y="838200"/>
            <a:ext cx="8988568" cy="1083593"/>
          </a:xfrm>
        </p:spPr>
        <p:txBody>
          <a:bodyPr/>
          <a:lstStyle/>
          <a:p>
            <a:br>
              <a:rPr lang="en-US" sz="4000" b="1" dirty="0"/>
            </a:br>
            <a:r>
              <a:rPr lang="en-US" sz="4000" b="1" dirty="0"/>
              <a:t>Third Normal Form (3NF)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FB392-72D9-CEF4-8A20-94A7440B2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table is in </a:t>
            </a:r>
            <a:r>
              <a:rPr lang="en-US" b="1" dirty="0"/>
              <a:t>3NF</a:t>
            </a:r>
            <a:r>
              <a:rPr lang="en-US" dirty="0"/>
              <a:t> if it is in </a:t>
            </a:r>
            <a:r>
              <a:rPr lang="en-US" b="1" dirty="0"/>
              <a:t>2NF</a:t>
            </a:r>
            <a:r>
              <a:rPr lang="en-US" dirty="0"/>
              <a:t> and </a:t>
            </a:r>
            <a:r>
              <a:rPr lang="en-US" b="1" dirty="0"/>
              <a:t>no transitive dependency</a:t>
            </a:r>
            <a:r>
              <a:rPr lang="en-US" dirty="0"/>
              <a:t> exists (non-key attributes depend only on the primary key).</a:t>
            </a:r>
            <a:endParaRPr lang="en-US" sz="2400" b="1" dirty="0"/>
          </a:p>
          <a:p>
            <a:r>
              <a:rPr lang="en-US" dirty="0"/>
              <a:t>Must be in </a:t>
            </a:r>
            <a:r>
              <a:rPr lang="en-US" b="1" dirty="0"/>
              <a:t>2NF</a:t>
            </a:r>
            <a:endParaRPr lang="en-US" dirty="0"/>
          </a:p>
          <a:p>
            <a:r>
              <a:rPr lang="en-US" b="1" dirty="0"/>
              <a:t>No transitive dependency</a:t>
            </a:r>
            <a:endParaRPr lang="en-US" dirty="0"/>
          </a:p>
          <a:p>
            <a:r>
              <a:rPr lang="en-US" dirty="0"/>
              <a:t>Non-key attributes depend </a:t>
            </a:r>
            <a:r>
              <a:rPr lang="en-US" b="1" dirty="0"/>
              <a:t>directly on the primary key</a:t>
            </a:r>
          </a:p>
          <a:p>
            <a:pPr marL="0" indent="0">
              <a:buNone/>
            </a:pPr>
            <a:r>
              <a:rPr lang="en-US" sz="2400" b="1" dirty="0"/>
              <a:t> Goal:</a:t>
            </a:r>
            <a:r>
              <a:rPr lang="en-US" sz="2400" dirty="0"/>
              <a:t> </a:t>
            </a:r>
            <a:r>
              <a:rPr lang="en-US" dirty="0"/>
              <a:t>Eliminate </a:t>
            </a:r>
            <a:r>
              <a:rPr lang="en-US" b="1" dirty="0"/>
              <a:t>transitive dependency</a:t>
            </a:r>
            <a:r>
              <a:rPr lang="en-US" dirty="0"/>
              <a:t> and ensure </a:t>
            </a:r>
            <a:r>
              <a:rPr lang="en-US" b="1" dirty="0"/>
              <a:t>non-key attributes depend only on the primary key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950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55AF6-86F6-623A-C704-EE399656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ea typeface="+mj-lt"/>
                <a:cs typeface="+mj-lt"/>
              </a:rPr>
              <a:t>Boyce–Codd Normal Form (BCNF)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6A93C-EEA6-07C4-6B94-E91672299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Stronger version of 3NF</a:t>
            </a:r>
          </a:p>
          <a:p>
            <a:r>
              <a:rPr lang="en-US" sz="2400" b="1" dirty="0"/>
              <a:t>Every determinant must be a candidate key</a:t>
            </a:r>
          </a:p>
          <a:p>
            <a:r>
              <a:rPr lang="en-US" sz="2400" b="1" dirty="0"/>
              <a:t>Removes remaining anomalies</a:t>
            </a:r>
          </a:p>
          <a:p>
            <a:r>
              <a:rPr lang="en-US" sz="2400" b="1" dirty="0"/>
              <a:t>Used in complex databases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43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06EF1-FB7C-60B6-E791-4BC9BAB3F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Transaction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669-CC51-6959-158A-30BFB9592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Transaction is a sequence of database operations</a:t>
            </a:r>
          </a:p>
          <a:p>
            <a:r>
              <a:rPr lang="en-US" sz="2400" b="1" dirty="0"/>
              <a:t>All operations are treated as a single unit</a:t>
            </a:r>
          </a:p>
          <a:p>
            <a:r>
              <a:rPr lang="en-US" sz="2400" b="1" dirty="0"/>
              <a:t>Either all operations execute successfully or none</a:t>
            </a:r>
          </a:p>
          <a:p>
            <a:pPr marL="0" indent="0">
              <a:buNone/>
            </a:pPr>
            <a:r>
              <a:rPr lang="en-US" sz="2400" b="1" dirty="0"/>
              <a:t>Example: Bank money transfer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732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1B62-4A47-E83B-7462-7B99AE75F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ACID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B0DC5-3B32-471C-C3EA-4191798BD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Atomicity:</a:t>
            </a:r>
            <a:r>
              <a:rPr lang="en-US" sz="2400" dirty="0"/>
              <a:t> All operations in a transaction </a:t>
            </a:r>
            <a:r>
              <a:rPr lang="en-US" sz="2400" b="1" dirty="0"/>
              <a:t>succeed or fail together</a:t>
            </a:r>
            <a:endParaRPr lang="en-US" sz="2400" dirty="0"/>
          </a:p>
          <a:p>
            <a:r>
              <a:rPr lang="en-US" sz="2400" b="1" dirty="0"/>
              <a:t>Consistency:</a:t>
            </a:r>
            <a:r>
              <a:rPr lang="en-US" sz="2400" dirty="0"/>
              <a:t> Database remains in a </a:t>
            </a:r>
            <a:r>
              <a:rPr lang="en-US" sz="2400" b="1" dirty="0"/>
              <a:t>valid state</a:t>
            </a:r>
            <a:endParaRPr lang="en-US" sz="2400" dirty="0"/>
          </a:p>
          <a:p>
            <a:r>
              <a:rPr lang="en-US" sz="2400" b="1" dirty="0"/>
              <a:t>Isolation:</a:t>
            </a:r>
            <a:r>
              <a:rPr lang="en-US" sz="2400" dirty="0"/>
              <a:t> Transactions </a:t>
            </a:r>
            <a:r>
              <a:rPr lang="en-US" sz="2400" b="1" dirty="0"/>
              <a:t>don’t affect each other</a:t>
            </a:r>
            <a:endParaRPr lang="en-US" sz="2400" dirty="0"/>
          </a:p>
          <a:p>
            <a:r>
              <a:rPr lang="en-US" sz="2400" b="1" dirty="0"/>
              <a:t>Durability:</a:t>
            </a:r>
            <a:r>
              <a:rPr lang="en-US" sz="2400" dirty="0"/>
              <a:t> Changes are </a:t>
            </a:r>
            <a:r>
              <a:rPr lang="en-US" sz="2400" b="1" dirty="0"/>
              <a:t>permanent after commit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448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19D58-AA50-3BAC-7FB8-7C69B35EF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Indexing in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8F8D2-6A8A-74D3-9AC2-CE9FC849B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Indexing is used to speed up data retrieval</a:t>
            </a:r>
          </a:p>
          <a:p>
            <a:r>
              <a:rPr lang="en-US" sz="2400" b="1" dirty="0"/>
              <a:t>Works like a book index</a:t>
            </a:r>
          </a:p>
          <a:p>
            <a:r>
              <a:rPr lang="en-US" sz="2400" b="1" dirty="0"/>
              <a:t>Reduces disk access time</a:t>
            </a:r>
          </a:p>
          <a:p>
            <a:r>
              <a:rPr lang="en-US" sz="2400" b="1" dirty="0"/>
              <a:t>Improves performance of SELECT queries</a:t>
            </a:r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Common Types:</a:t>
            </a:r>
            <a:endParaRPr lang="en-US" sz="2400" b="1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B-Tree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B+ Tree</a:t>
            </a:r>
            <a:endParaRPr lang="en-US" sz="2400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2647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C9357-43F1-9B09-1B24-08A227A00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B-Tree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057DA-0B1D-782F-EEBA-A9DBA10B2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75452"/>
            <a:ext cx="8825659" cy="402534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200" b="1" dirty="0"/>
              <a:t>Characteristics:</a:t>
            </a:r>
            <a:endParaRPr lang="en-US" sz="4200" dirty="0"/>
          </a:p>
          <a:p>
            <a:r>
              <a:rPr lang="en-US" sz="4200" dirty="0"/>
              <a:t>Balanced tree</a:t>
            </a:r>
          </a:p>
          <a:p>
            <a:r>
              <a:rPr lang="en-US" sz="4200" dirty="0"/>
              <a:t>Sorted keys</a:t>
            </a:r>
          </a:p>
          <a:p>
            <a:r>
              <a:rPr lang="en-US" sz="4200" dirty="0"/>
              <a:t>Multiple children per node</a:t>
            </a:r>
          </a:p>
          <a:p>
            <a:r>
              <a:rPr lang="en-US" sz="4200" dirty="0"/>
              <a:t>Fast search (O(log n))</a:t>
            </a:r>
          </a:p>
          <a:p>
            <a:r>
              <a:rPr lang="en-US" sz="4200" dirty="0"/>
              <a:t>Dynamic insert &amp; delete</a:t>
            </a:r>
          </a:p>
          <a:p>
            <a:pPr marL="0" indent="0">
              <a:buNone/>
            </a:pPr>
            <a:r>
              <a:rPr lang="en-US" sz="4200" b="1" dirty="0"/>
              <a:t>Advantages:</a:t>
            </a:r>
            <a:endParaRPr lang="en-US" sz="4200" dirty="0"/>
          </a:p>
          <a:p>
            <a:r>
              <a:rPr lang="en-US" sz="4200" dirty="0"/>
              <a:t>Quick search, insert, delete</a:t>
            </a:r>
          </a:p>
          <a:p>
            <a:r>
              <a:rPr lang="en-US" sz="4200" dirty="0"/>
              <a:t>Supports range queries</a:t>
            </a:r>
          </a:p>
          <a:p>
            <a:r>
              <a:rPr lang="en-US" sz="4200" dirty="0"/>
              <a:t>Efficient for large disk-based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231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40C0-9047-E265-0E2C-C256E58A8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B+ Tree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90E3D-9A3F-42AD-E0C4-D53F320B8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85999"/>
            <a:ext cx="8825659" cy="4144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Characteristics:</a:t>
            </a:r>
            <a:endParaRPr lang="en-US" sz="2000" dirty="0"/>
          </a:p>
          <a:p>
            <a:r>
              <a:rPr lang="en-US" sz="2000" dirty="0"/>
              <a:t>All data in leaf nodes</a:t>
            </a:r>
          </a:p>
          <a:p>
            <a:r>
              <a:rPr lang="en-US" sz="2000" dirty="0"/>
              <a:t>Leaf nodes linked for sequential access</a:t>
            </a:r>
          </a:p>
          <a:p>
            <a:r>
              <a:rPr lang="en-US" sz="2000" dirty="0"/>
              <a:t>Balanced and sorted</a:t>
            </a:r>
          </a:p>
          <a:p>
            <a:r>
              <a:rPr lang="en-US" sz="2000" dirty="0"/>
              <a:t>Fast search, insert, delete</a:t>
            </a:r>
          </a:p>
          <a:p>
            <a:pPr marL="0" indent="0">
              <a:buNone/>
            </a:pPr>
            <a:r>
              <a:rPr lang="en-US" sz="2000" b="1" dirty="0"/>
              <a:t>Advantages:</a:t>
            </a:r>
            <a:endParaRPr lang="en-US" sz="2000" dirty="0"/>
          </a:p>
          <a:p>
            <a:r>
              <a:rPr lang="en-US" sz="2000" dirty="0"/>
              <a:t>Excellent for range queries</a:t>
            </a:r>
          </a:p>
          <a:p>
            <a:r>
              <a:rPr lang="en-US" sz="2000" dirty="0"/>
              <a:t>Efficient disk access</a:t>
            </a:r>
          </a:p>
          <a:p>
            <a:r>
              <a:rPr lang="en-US" sz="2000" dirty="0"/>
              <a:t>Supports large datasets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459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06347-D810-78D0-36F6-264B2AF8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Concurrency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A445E-BA86-68B9-7A4A-A6E75BD19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Manages multiple transactions at same time</a:t>
            </a:r>
          </a:p>
          <a:p>
            <a:r>
              <a:rPr lang="en-US" sz="2000" dirty="0"/>
              <a:t>Prevents data inconsistency</a:t>
            </a:r>
          </a:p>
          <a:p>
            <a:r>
              <a:rPr lang="en-US" sz="2000" dirty="0"/>
              <a:t>Ensures isolation property</a:t>
            </a:r>
          </a:p>
          <a:p>
            <a:pPr marL="0" indent="0">
              <a:buNone/>
            </a:pPr>
            <a:r>
              <a:rPr lang="en-US" sz="2000" b="1" dirty="0"/>
              <a:t>Techniques used: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Lock-based protocol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Timestamp-based protocol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055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E716B-0653-E985-41CE-2C5027AC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Deadlock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E78E7-B186-6F21-E90B-B468AE30B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Deadlock</a:t>
            </a:r>
            <a:r>
              <a:rPr lang="en-US" dirty="0"/>
              <a:t> occurs when transactions wait for each other</a:t>
            </a:r>
          </a:p>
          <a:p>
            <a:r>
              <a:rPr lang="en-US" dirty="0"/>
              <a:t>No transaction can proceed</a:t>
            </a:r>
          </a:p>
          <a:p>
            <a:pPr marL="0" indent="0">
              <a:buNone/>
            </a:pPr>
            <a:r>
              <a:rPr lang="en-US" b="1" dirty="0"/>
              <a:t>Handling techniques: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Deadlock Prevention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Deadlock Avoidance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Deadlock Detection and Recovery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661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BE042-3D4C-5784-19C7-701BFBA90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SQL vs NoSQL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45E17-FA0E-8B04-7047-D3F187CA11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SQL (Relational Databases)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Fixed, structured schema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Data organized in tables (rows &amp; columns)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Queries written in SQL language</a:t>
            </a:r>
          </a:p>
          <a:p>
            <a:pPr marL="0" indent="0">
              <a:buNone/>
            </a:pPr>
            <a:endParaRPr lang="en-US" sz="2000" b="1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F7CA3-D012-1530-F69E-71A40CCF34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NoSQL (Non-Relational Databases)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Flexible or schema-less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Supports Document, Key-Value, Column, Graph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Designed for scalability and large datasets</a:t>
            </a:r>
          </a:p>
          <a:p>
            <a:pPr marL="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42015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15E3-6159-A1ED-356A-69CE8733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SQL vs NoSQL </a:t>
            </a:r>
            <a:r>
              <a:rPr lang="en-US" sz="4000" b="1" dirty="0" err="1"/>
              <a:t>Comparsion</a:t>
            </a:r>
            <a:r>
              <a:rPr lang="en-US" sz="4000" b="1" dirty="0"/>
              <a:t> Table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E72E77E-7BD9-2B77-66A7-B3E0ACEED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413242"/>
              </p:ext>
            </p:extLst>
          </p:nvPr>
        </p:nvGraphicFramePr>
        <p:xfrm>
          <a:off x="1154954" y="2693504"/>
          <a:ext cx="8761413" cy="276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0471">
                  <a:extLst>
                    <a:ext uri="{9D8B030D-6E8A-4147-A177-3AD203B41FA5}">
                      <a16:colId xmlns:a16="http://schemas.microsoft.com/office/drawing/2014/main" val="2079080451"/>
                    </a:ext>
                  </a:extLst>
                </a:gridCol>
                <a:gridCol w="2920471">
                  <a:extLst>
                    <a:ext uri="{9D8B030D-6E8A-4147-A177-3AD203B41FA5}">
                      <a16:colId xmlns:a16="http://schemas.microsoft.com/office/drawing/2014/main" val="1730503368"/>
                    </a:ext>
                  </a:extLst>
                </a:gridCol>
                <a:gridCol w="2920471">
                  <a:extLst>
                    <a:ext uri="{9D8B030D-6E8A-4147-A177-3AD203B41FA5}">
                      <a16:colId xmlns:a16="http://schemas.microsoft.com/office/drawing/2014/main" val="1131356703"/>
                    </a:ext>
                  </a:extLst>
                </a:gridCol>
              </a:tblGrid>
              <a:tr h="531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315081"/>
                  </a:ext>
                </a:extLst>
              </a:tr>
              <a:tr h="531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Data Model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Tables (rows &amp; columns)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Key-Value / Document /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533860"/>
                  </a:ext>
                </a:extLst>
              </a:tr>
              <a:tr h="531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Schema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Flexible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05496"/>
                  </a:ext>
                </a:extLst>
              </a:tr>
              <a:tr h="531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Scalability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Horizontal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405622"/>
                  </a:ext>
                </a:extLst>
              </a:tr>
              <a:tr h="531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Transactions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Eventual consistency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90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7861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40F2-E91A-F4E9-04A0-3F8A4EAC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5DDE4-ECDB-D3CD-AAAB-66190B0DB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DBMS plays a vital role in data management</a:t>
            </a:r>
          </a:p>
          <a:p>
            <a:r>
              <a:rPr lang="en-US" sz="2000" dirty="0"/>
              <a:t>Normalization reduces redundancy and anomalies</a:t>
            </a:r>
          </a:p>
          <a:p>
            <a:r>
              <a:rPr lang="en-US" sz="2000" dirty="0"/>
              <a:t>Transactions and ACID ensure data reliability</a:t>
            </a:r>
          </a:p>
          <a:p>
            <a:r>
              <a:rPr lang="en-US" sz="2000" dirty="0"/>
              <a:t>Indexing improves performance</a:t>
            </a:r>
          </a:p>
          <a:p>
            <a:r>
              <a:rPr lang="en-US" sz="2000" dirty="0"/>
              <a:t>Concurrency control maintains consistency</a:t>
            </a:r>
          </a:p>
          <a:p>
            <a:r>
              <a:rPr lang="en-US" sz="2000" dirty="0"/>
              <a:t>SQL and NoSQL are used based on application needs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65152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87600-1817-4E6F-5346-61B55A56D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818641"/>
            <a:ext cx="8710405" cy="1229359"/>
          </a:xfrm>
        </p:spPr>
        <p:txBody>
          <a:bodyPr/>
          <a:lstStyle/>
          <a:p>
            <a:pPr algn="ctr"/>
            <a:r>
              <a:rPr lang="en-US" sz="6000" b="1" dirty="0"/>
              <a:t>Thank you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31A557-B733-D13E-8EEE-CDB226250BB8}"/>
              </a:ext>
            </a:extLst>
          </p:cNvPr>
          <p:cNvSpPr txBox="1"/>
          <p:nvPr/>
        </p:nvSpPr>
        <p:spPr>
          <a:xfrm>
            <a:off x="5953760" y="4013200"/>
            <a:ext cx="4206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Any question?</a:t>
            </a:r>
          </a:p>
        </p:txBody>
      </p:sp>
    </p:spTree>
    <p:extLst>
      <p:ext uri="{BB962C8B-B14F-4D97-AF65-F5344CB8AC3E}">
        <p14:creationId xmlns:p14="http://schemas.microsoft.com/office/powerpoint/2010/main" val="18203314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299</TotalTime>
  <Words>611</Words>
  <Application>Microsoft Office PowerPoint</Application>
  <PresentationFormat>Widescreen</PresentationFormat>
  <Paragraphs>129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Century Gothic</vt:lpstr>
      <vt:lpstr>Wingdings</vt:lpstr>
      <vt:lpstr>Wingdings 3</vt:lpstr>
      <vt:lpstr>Ion Boardroom</vt:lpstr>
      <vt:lpstr>Welcome to my presentation</vt:lpstr>
      <vt:lpstr>Presentation Outline</vt:lpstr>
      <vt:lpstr>Database normalization</vt:lpstr>
      <vt:lpstr>First Normal Form (1NF)</vt:lpstr>
      <vt:lpstr>Second Normal Form (2NF)</vt:lpstr>
      <vt:lpstr> Third Normal Form (3NF) </vt:lpstr>
      <vt:lpstr>Boyce–Codd Normal Form (BCNF)</vt:lpstr>
      <vt:lpstr>Transaction Management</vt:lpstr>
      <vt:lpstr>ACID Properties</vt:lpstr>
      <vt:lpstr>Indexing in DBMS</vt:lpstr>
      <vt:lpstr>B-Tree Indexing</vt:lpstr>
      <vt:lpstr>B+ Tree Indexing</vt:lpstr>
      <vt:lpstr>Concurrency Control</vt:lpstr>
      <vt:lpstr>Deadlock Handling</vt:lpstr>
      <vt:lpstr>SQL vs NoSQL</vt:lpstr>
      <vt:lpstr>SQL vs NoSQL Comparsion Table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yasin bhuiyan</dc:creator>
  <cp:lastModifiedBy>md yasin bhuiyan</cp:lastModifiedBy>
  <cp:revision>2</cp:revision>
  <dcterms:created xsi:type="dcterms:W3CDTF">2026-01-10T13:27:32Z</dcterms:created>
  <dcterms:modified xsi:type="dcterms:W3CDTF">2026-01-19T14:40:52Z</dcterms:modified>
</cp:coreProperties>
</file>